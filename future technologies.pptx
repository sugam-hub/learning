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5" r:id="rId1"/>
  </p:sldMasterIdLst>
  <p:notesMasterIdLst>
    <p:notesMasterId r:id="rId13"/>
  </p:notesMasterIdLst>
  <p:sldIdLst>
    <p:sldId id="256" r:id="rId2"/>
    <p:sldId id="266" r:id="rId3"/>
    <p:sldId id="257" r:id="rId4"/>
    <p:sldId id="258" r:id="rId5"/>
    <p:sldId id="259" r:id="rId6"/>
    <p:sldId id="260" r:id="rId7"/>
    <p:sldId id="261" r:id="rId8"/>
    <p:sldId id="262" r:id="rId9"/>
    <p:sldId id="263" r:id="rId10"/>
    <p:sldId id="264" r:id="rId11"/>
    <p:sldId id="265"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662" autoAdjust="0"/>
    <p:restoredTop sz="94343" autoAdjust="0"/>
  </p:normalViewPr>
  <p:slideViewPr>
    <p:cSldViewPr snapToGrid="0">
      <p:cViewPr varScale="1">
        <p:scale>
          <a:sx n="69" d="100"/>
          <a:sy n="69" d="100"/>
        </p:scale>
        <p:origin x="95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B68228-AF00-4705-BA03-274A7A825E69}" type="datetimeFigureOut">
              <a:rPr lang="en-US" smtClean="0"/>
              <a:t>11/27/2019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19C298-077F-4754-92A3-EC62EE340ACC}" type="slidenum">
              <a:rPr lang="en-US" smtClean="0"/>
              <a:t>‹#›</a:t>
            </a:fld>
            <a:endParaRPr lang="en-US"/>
          </a:p>
        </p:txBody>
      </p:sp>
    </p:spTree>
    <p:extLst>
      <p:ext uri="{BB962C8B-B14F-4D97-AF65-F5344CB8AC3E}">
        <p14:creationId xmlns:p14="http://schemas.microsoft.com/office/powerpoint/2010/main" val="3060570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919C298-077F-4754-92A3-EC62EE340ACC}" type="slidenum">
              <a:rPr lang="en-US" smtClean="0"/>
              <a:t>11</a:t>
            </a:fld>
            <a:endParaRPr lang="en-US"/>
          </a:p>
        </p:txBody>
      </p:sp>
    </p:spTree>
    <p:extLst>
      <p:ext uri="{BB962C8B-B14F-4D97-AF65-F5344CB8AC3E}">
        <p14:creationId xmlns:p14="http://schemas.microsoft.com/office/powerpoint/2010/main" val="34411898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EE2AAE85-54BB-4CD5-A2AA-87113B4F5740}" type="datetimeFigureOut">
              <a:rPr lang="en-US" smtClean="0"/>
              <a:t>11/27/2019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473C9D-BA81-4A72-86DE-0253BEEF0EF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8461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E2AAE85-54BB-4CD5-A2AA-87113B4F5740}" type="datetimeFigureOut">
              <a:rPr lang="en-US" smtClean="0"/>
              <a:t>11/27/2019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473C9D-BA81-4A72-86DE-0253BEEF0EFF}" type="slidenum">
              <a:rPr lang="en-US" smtClean="0"/>
              <a:t>‹#›</a:t>
            </a:fld>
            <a:endParaRPr lang="en-US"/>
          </a:p>
        </p:txBody>
      </p:sp>
    </p:spTree>
    <p:extLst>
      <p:ext uri="{BB962C8B-B14F-4D97-AF65-F5344CB8AC3E}">
        <p14:creationId xmlns:p14="http://schemas.microsoft.com/office/powerpoint/2010/main" val="2620201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E2AAE85-54BB-4CD5-A2AA-87113B4F5740}" type="datetimeFigureOut">
              <a:rPr lang="en-US" smtClean="0"/>
              <a:t>11/27/2019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473C9D-BA81-4A72-86DE-0253BEEF0EF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91677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E2AAE85-54BB-4CD5-A2AA-87113B4F5740}" type="datetimeFigureOut">
              <a:rPr lang="en-US" smtClean="0"/>
              <a:t>11/27/2019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473C9D-BA81-4A72-86DE-0253BEEF0EFF}" type="slidenum">
              <a:rPr lang="en-US" smtClean="0"/>
              <a:t>‹#›</a:t>
            </a:fld>
            <a:endParaRPr lang="en-US"/>
          </a:p>
        </p:txBody>
      </p:sp>
    </p:spTree>
    <p:extLst>
      <p:ext uri="{BB962C8B-B14F-4D97-AF65-F5344CB8AC3E}">
        <p14:creationId xmlns:p14="http://schemas.microsoft.com/office/powerpoint/2010/main" val="1164912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E2AAE85-54BB-4CD5-A2AA-87113B4F5740}" type="datetimeFigureOut">
              <a:rPr lang="en-US" smtClean="0"/>
              <a:t>11/27/2019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473C9D-BA81-4A72-86DE-0253BEEF0EFF}" type="slidenum">
              <a:rPr lang="en-US" smtClean="0"/>
              <a:t>‹#›</a:t>
            </a:fld>
            <a:endParaRPr lang="en-US"/>
          </a:p>
        </p:txBody>
      </p:sp>
    </p:spTree>
    <p:extLst>
      <p:ext uri="{BB962C8B-B14F-4D97-AF65-F5344CB8AC3E}">
        <p14:creationId xmlns:p14="http://schemas.microsoft.com/office/powerpoint/2010/main" val="3574061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E2AAE85-54BB-4CD5-A2AA-87113B4F5740}" type="datetimeFigureOut">
              <a:rPr lang="en-US" smtClean="0"/>
              <a:t>11/27/2019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473C9D-BA81-4A72-86DE-0253BEEF0EFF}" type="slidenum">
              <a:rPr lang="en-US" smtClean="0"/>
              <a:t>‹#›</a:t>
            </a:fld>
            <a:endParaRPr lang="en-US"/>
          </a:p>
        </p:txBody>
      </p:sp>
    </p:spTree>
    <p:extLst>
      <p:ext uri="{BB962C8B-B14F-4D97-AF65-F5344CB8AC3E}">
        <p14:creationId xmlns:p14="http://schemas.microsoft.com/office/powerpoint/2010/main" val="30741499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E2AAE85-54BB-4CD5-A2AA-87113B4F5740}" type="datetimeFigureOut">
              <a:rPr lang="en-US" smtClean="0"/>
              <a:t>11/27/2019</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A4473C9D-BA81-4A72-86DE-0253BEEF0EFF}" type="slidenum">
              <a:rPr lang="en-US" smtClean="0"/>
              <a:t>‹#›</a:t>
            </a:fld>
            <a:endParaRPr lang="en-US"/>
          </a:p>
        </p:txBody>
      </p:sp>
    </p:spTree>
    <p:extLst>
      <p:ext uri="{BB962C8B-B14F-4D97-AF65-F5344CB8AC3E}">
        <p14:creationId xmlns:p14="http://schemas.microsoft.com/office/powerpoint/2010/main" val="35956604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E2AAE85-54BB-4CD5-A2AA-87113B4F5740}" type="datetimeFigureOut">
              <a:rPr lang="en-US" smtClean="0"/>
              <a:t>11/27/2019</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4473C9D-BA81-4A72-86DE-0253BEEF0EFF}" type="slidenum">
              <a:rPr lang="en-US" smtClean="0"/>
              <a:t>‹#›</a:t>
            </a:fld>
            <a:endParaRPr lang="en-US"/>
          </a:p>
        </p:txBody>
      </p:sp>
    </p:spTree>
    <p:extLst>
      <p:ext uri="{BB962C8B-B14F-4D97-AF65-F5344CB8AC3E}">
        <p14:creationId xmlns:p14="http://schemas.microsoft.com/office/powerpoint/2010/main" val="530882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EE2AAE85-54BB-4CD5-A2AA-87113B4F5740}" type="datetimeFigureOut">
              <a:rPr lang="en-US" smtClean="0"/>
              <a:t>11/27/2019</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4473C9D-BA81-4A72-86DE-0253BEEF0EFF}" type="slidenum">
              <a:rPr lang="en-US" smtClean="0"/>
              <a:t>‹#›</a:t>
            </a:fld>
            <a:endParaRPr lang="en-US"/>
          </a:p>
        </p:txBody>
      </p:sp>
    </p:spTree>
    <p:extLst>
      <p:ext uri="{BB962C8B-B14F-4D97-AF65-F5344CB8AC3E}">
        <p14:creationId xmlns:p14="http://schemas.microsoft.com/office/powerpoint/2010/main" val="17237828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E2AAE85-54BB-4CD5-A2AA-87113B4F5740}" type="datetimeFigureOut">
              <a:rPr lang="en-US" smtClean="0"/>
              <a:t>11/27/2019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473C9D-BA81-4A72-86DE-0253BEEF0EFF}" type="slidenum">
              <a:rPr lang="en-US" smtClean="0"/>
              <a:t>‹#›</a:t>
            </a:fld>
            <a:endParaRPr lang="en-US"/>
          </a:p>
        </p:txBody>
      </p:sp>
    </p:spTree>
    <p:extLst>
      <p:ext uri="{BB962C8B-B14F-4D97-AF65-F5344CB8AC3E}">
        <p14:creationId xmlns:p14="http://schemas.microsoft.com/office/powerpoint/2010/main" val="38446714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E2AAE85-54BB-4CD5-A2AA-87113B4F5740}" type="datetimeFigureOut">
              <a:rPr lang="en-US" smtClean="0"/>
              <a:t>11/27/2019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473C9D-BA81-4A72-86DE-0253BEEF0EFF}" type="slidenum">
              <a:rPr lang="en-US" smtClean="0"/>
              <a:t>‹#›</a:t>
            </a:fld>
            <a:endParaRPr lang="en-US"/>
          </a:p>
        </p:txBody>
      </p:sp>
    </p:spTree>
    <p:extLst>
      <p:ext uri="{BB962C8B-B14F-4D97-AF65-F5344CB8AC3E}">
        <p14:creationId xmlns:p14="http://schemas.microsoft.com/office/powerpoint/2010/main" val="36946665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E2AAE85-54BB-4CD5-A2AA-87113B4F5740}" type="datetimeFigureOut">
              <a:rPr lang="en-US" smtClean="0"/>
              <a:t>11/27/2019</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A4473C9D-BA81-4A72-86DE-0253BEEF0EFF}"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4718271"/>
      </p:ext>
    </p:extLst>
  </p:cSld>
  <p:clrMap bg1="lt1" tx1="dk1" bg2="lt2" tx2="dk2" accent1="accent1" accent2="accent2" accent3="accent3" accent4="accent4" accent5="accent5" accent6="accent6" hlink="hlink" folHlink="folHlink"/>
  <p:sldLayoutIdLst>
    <p:sldLayoutId id="2147483816" r:id="rId1"/>
    <p:sldLayoutId id="2147483817" r:id="rId2"/>
    <p:sldLayoutId id="2147483818" r:id="rId3"/>
    <p:sldLayoutId id="2147483819" r:id="rId4"/>
    <p:sldLayoutId id="2147483820" r:id="rId5"/>
    <p:sldLayoutId id="2147483821" r:id="rId6"/>
    <p:sldLayoutId id="2147483822" r:id="rId7"/>
    <p:sldLayoutId id="2147483823" r:id="rId8"/>
    <p:sldLayoutId id="2147483824" r:id="rId9"/>
    <p:sldLayoutId id="2147483825" r:id="rId10"/>
    <p:sldLayoutId id="2147483826"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png"/><Relationship Id="rId1" Type="http://schemas.openxmlformats.org/officeDocument/2006/relationships/slideLayout" Target="../slideLayouts/slideLayout7.xml"/><Relationship Id="rId5" Type="http://schemas.microsoft.com/office/2007/relationships/hdphoto" Target="../media/hdphoto3.wdp"/><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p:cNvGrpSpPr/>
          <p:nvPr/>
        </p:nvGrpSpPr>
        <p:grpSpPr>
          <a:xfrm>
            <a:off x="426919" y="0"/>
            <a:ext cx="11116491" cy="7077291"/>
            <a:chOff x="537754" y="-274319"/>
            <a:chExt cx="11116491" cy="7077291"/>
          </a:xfrm>
        </p:grpSpPr>
        <p:sp>
          <p:nvSpPr>
            <p:cNvPr id="6" name="TextBox 5"/>
            <p:cNvSpPr txBox="1"/>
            <p:nvPr/>
          </p:nvSpPr>
          <p:spPr>
            <a:xfrm>
              <a:off x="1138645" y="-274319"/>
              <a:ext cx="9914708" cy="1107996"/>
            </a:xfrm>
            <a:prstGeom prst="rect">
              <a:avLst/>
            </a:prstGeom>
            <a:noFill/>
          </p:spPr>
          <p:txBody>
            <a:bodyPr wrap="square" rtlCol="0">
              <a:spAutoFit/>
            </a:bodyPr>
            <a:lstStyle/>
            <a:p>
              <a:pPr>
                <a:lnSpc>
                  <a:spcPct val="150000"/>
                </a:lnSpc>
              </a:pPr>
              <a:r>
                <a:rPr lang="en-US" sz="4800" b="1" dirty="0" smtClean="0">
                  <a:ln w="12700">
                    <a:solidFill>
                      <a:schemeClr val="accent1"/>
                    </a:solidFill>
                    <a:prstDash val="solid"/>
                  </a:ln>
                  <a:pattFill prst="pct50">
                    <a:fgClr>
                      <a:schemeClr val="accent1"/>
                    </a:fgClr>
                    <a:bgClr>
                      <a:schemeClr val="accent1">
                        <a:lumMod val="20000"/>
                        <a:lumOff val="80000"/>
                      </a:schemeClr>
                    </a:bgClr>
                  </a:pattFill>
                  <a:latin typeface="Adobe Garamond Pro Bold" panose="02020702060506020403" pitchFamily="18" charset="0"/>
                  <a:cs typeface="Aharoni" panose="02010803020104030203" pitchFamily="2" charset="-79"/>
                </a:rPr>
                <a:t>10 Upcoming Technologies</a:t>
              </a:r>
              <a:endParaRPr lang="en-US" sz="4800" b="1" dirty="0">
                <a:ln w="12700">
                  <a:solidFill>
                    <a:schemeClr val="accent1"/>
                  </a:solidFill>
                  <a:prstDash val="solid"/>
                </a:ln>
                <a:pattFill prst="pct50">
                  <a:fgClr>
                    <a:schemeClr val="accent1"/>
                  </a:fgClr>
                  <a:bgClr>
                    <a:schemeClr val="accent1">
                      <a:lumMod val="20000"/>
                      <a:lumOff val="80000"/>
                    </a:schemeClr>
                  </a:bgClr>
                </a:pattFill>
                <a:latin typeface="Adobe Garamond Pro Bold" panose="02020702060506020403" pitchFamily="18" charset="0"/>
                <a:cs typeface="Aharoni" panose="02010803020104030203" pitchFamily="2" charset="-79"/>
              </a:endParaRPr>
            </a:p>
          </p:txBody>
        </p:sp>
        <p:grpSp>
          <p:nvGrpSpPr>
            <p:cNvPr id="9" name="Group 8"/>
            <p:cNvGrpSpPr/>
            <p:nvPr/>
          </p:nvGrpSpPr>
          <p:grpSpPr>
            <a:xfrm>
              <a:off x="537754" y="912165"/>
              <a:ext cx="11116491" cy="5890807"/>
              <a:chOff x="537754" y="912165"/>
              <a:chExt cx="11116491" cy="5890807"/>
            </a:xfrm>
          </p:grpSpPr>
          <p:sp>
            <p:nvSpPr>
              <p:cNvPr id="7" name="Rectangle 6"/>
              <p:cNvSpPr/>
              <p:nvPr/>
            </p:nvSpPr>
            <p:spPr>
              <a:xfrm>
                <a:off x="537754" y="912165"/>
                <a:ext cx="10864764" cy="1061829"/>
              </a:xfrm>
              <a:prstGeom prst="rect">
                <a:avLst/>
              </a:prstGeom>
            </p:spPr>
            <p:txBody>
              <a:bodyPr wrap="square">
                <a:spAutoFit/>
              </a:bodyPr>
              <a:lstStyle/>
              <a:p>
                <a:pPr>
                  <a:lnSpc>
                    <a:spcPct val="150000"/>
                  </a:lnSpc>
                </a:pPr>
                <a:r>
                  <a:rPr lang="en-US" sz="2400" b="1" u="sng" dirty="0" smtClean="0"/>
                  <a:t>Contents</a:t>
                </a:r>
                <a:r>
                  <a:rPr lang="en-US" u="sng" dirty="0" smtClean="0"/>
                  <a:t>:</a:t>
                </a:r>
              </a:p>
              <a:p>
                <a:pPr>
                  <a:lnSpc>
                    <a:spcPct val="150000"/>
                  </a:lnSpc>
                </a:pPr>
                <a:endParaRPr lang="en-US" u="sng" dirty="0"/>
              </a:p>
            </p:txBody>
          </p:sp>
          <p:sp>
            <p:nvSpPr>
              <p:cNvPr id="8" name="TextBox 7"/>
              <p:cNvSpPr txBox="1"/>
              <p:nvPr/>
            </p:nvSpPr>
            <p:spPr>
              <a:xfrm>
                <a:off x="537754" y="1724659"/>
                <a:ext cx="11116491" cy="5078313"/>
              </a:xfrm>
              <a:prstGeom prst="rect">
                <a:avLst/>
              </a:prstGeom>
              <a:noFill/>
            </p:spPr>
            <p:txBody>
              <a:bodyPr wrap="square" rtlCol="0" anchor="ctr">
                <a:spAutoFit/>
              </a:bodyPr>
              <a:lstStyle/>
              <a:p>
                <a:pPr marL="342900" indent="-342900">
                  <a:lnSpc>
                    <a:spcPct val="150000"/>
                  </a:lnSpc>
                  <a:buFont typeface="+mj-lt"/>
                  <a:buAutoNum type="arabicPeriod"/>
                </a:pPr>
                <a:r>
                  <a:rPr lang="en-US" b="1" dirty="0" smtClean="0"/>
                  <a:t>Iot (Internet of Things)</a:t>
                </a:r>
              </a:p>
              <a:p>
                <a:pPr marL="342900" indent="-342900">
                  <a:lnSpc>
                    <a:spcPct val="150000"/>
                  </a:lnSpc>
                  <a:buFont typeface="+mj-lt"/>
                  <a:buAutoNum type="arabicPeriod"/>
                </a:pPr>
                <a:r>
                  <a:rPr lang="en-US" b="1" dirty="0"/>
                  <a:t>Artificial Intelligence (AI)</a:t>
                </a:r>
              </a:p>
              <a:p>
                <a:pPr marL="342900" indent="-342900">
                  <a:lnSpc>
                    <a:spcPct val="150000"/>
                  </a:lnSpc>
                  <a:buFont typeface="+mj-lt"/>
                  <a:buAutoNum type="arabicPeriod"/>
                </a:pPr>
                <a:r>
                  <a:rPr lang="en-US" b="1" dirty="0"/>
                  <a:t> 5G</a:t>
                </a:r>
              </a:p>
              <a:p>
                <a:pPr marL="342900" indent="-342900">
                  <a:lnSpc>
                    <a:spcPct val="150000"/>
                  </a:lnSpc>
                  <a:buFont typeface="+mj-lt"/>
                  <a:buAutoNum type="arabicPeriod"/>
                </a:pPr>
                <a:r>
                  <a:rPr lang="en-US" b="1" dirty="0"/>
                  <a:t>Serverless computing</a:t>
                </a:r>
              </a:p>
              <a:p>
                <a:pPr marL="342900" indent="-342900">
                  <a:lnSpc>
                    <a:spcPct val="150000"/>
                  </a:lnSpc>
                  <a:buFont typeface="+mj-lt"/>
                  <a:buAutoNum type="arabicPeriod"/>
                </a:pPr>
                <a:r>
                  <a:rPr lang="en-US" b="1" dirty="0"/>
                  <a:t>Blockchain</a:t>
                </a:r>
              </a:p>
              <a:p>
                <a:pPr marL="342900" indent="-342900">
                  <a:lnSpc>
                    <a:spcPct val="150000"/>
                  </a:lnSpc>
                  <a:buFont typeface="+mj-lt"/>
                  <a:buAutoNum type="arabicPeriod"/>
                </a:pPr>
                <a:r>
                  <a:rPr lang="en-US" b="1" dirty="0"/>
                  <a:t>Robotics</a:t>
                </a:r>
              </a:p>
              <a:p>
                <a:pPr marL="342900" indent="-342900">
                  <a:lnSpc>
                    <a:spcPct val="150000"/>
                  </a:lnSpc>
                  <a:buFont typeface="+mj-lt"/>
                  <a:buAutoNum type="arabicPeriod"/>
                </a:pPr>
                <a:r>
                  <a:rPr lang="en-US" b="1" dirty="0"/>
                  <a:t>Biometrics</a:t>
                </a:r>
              </a:p>
              <a:p>
                <a:pPr marL="342900" indent="-342900">
                  <a:lnSpc>
                    <a:spcPct val="150000"/>
                  </a:lnSpc>
                  <a:buFont typeface="+mj-lt"/>
                  <a:buAutoNum type="arabicPeriod"/>
                </a:pPr>
                <a:r>
                  <a:rPr lang="en-US" b="1" dirty="0"/>
                  <a:t>3D printing</a:t>
                </a:r>
              </a:p>
              <a:p>
                <a:pPr marL="342900" indent="-342900">
                  <a:lnSpc>
                    <a:spcPct val="150000"/>
                  </a:lnSpc>
                  <a:buFont typeface="+mj-lt"/>
                  <a:buAutoNum type="arabicPeriod"/>
                </a:pPr>
                <a:r>
                  <a:rPr lang="en-US" b="1" dirty="0"/>
                  <a:t>Virtual reality (VR)/Augmented reality (AR)</a:t>
                </a:r>
              </a:p>
              <a:p>
                <a:pPr marL="342900" indent="-342900">
                  <a:lnSpc>
                    <a:spcPct val="150000"/>
                  </a:lnSpc>
                  <a:buFont typeface="+mj-lt"/>
                  <a:buAutoNum type="arabicPeriod"/>
                </a:pPr>
                <a:r>
                  <a:rPr lang="en-US" b="1" dirty="0"/>
                  <a:t>Drones</a:t>
                </a:r>
              </a:p>
              <a:p>
                <a:pPr>
                  <a:lnSpc>
                    <a:spcPct val="150000"/>
                  </a:lnSpc>
                </a:pPr>
                <a:endParaRPr lang="en-US" b="1" dirty="0" smtClean="0"/>
              </a:p>
              <a:p>
                <a:pPr marL="342900" indent="-342900">
                  <a:lnSpc>
                    <a:spcPct val="150000"/>
                  </a:lnSpc>
                  <a:buFont typeface="+mj-lt"/>
                  <a:buAutoNum type="arabicPeriod"/>
                </a:pPr>
                <a:endParaRPr lang="en-US" dirty="0"/>
              </a:p>
            </p:txBody>
          </p:sp>
        </p:grpSp>
      </p:grpSp>
    </p:spTree>
    <p:extLst>
      <p:ext uri="{BB962C8B-B14F-4D97-AF65-F5344CB8AC3E}">
        <p14:creationId xmlns:p14="http://schemas.microsoft.com/office/powerpoint/2010/main" val="257340216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1)">
                                      <p:cBhvr>
                                        <p:cTn id="7"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p:cNvGrpSpPr/>
          <p:nvPr/>
        </p:nvGrpSpPr>
        <p:grpSpPr>
          <a:xfrm>
            <a:off x="183300" y="682068"/>
            <a:ext cx="11825400" cy="4499475"/>
            <a:chOff x="0" y="779049"/>
            <a:chExt cx="11825400" cy="4499475"/>
          </a:xfrm>
        </p:grpSpPr>
        <p:grpSp>
          <p:nvGrpSpPr>
            <p:cNvPr id="7" name="Group 6"/>
            <p:cNvGrpSpPr/>
            <p:nvPr/>
          </p:nvGrpSpPr>
          <p:grpSpPr>
            <a:xfrm>
              <a:off x="0" y="779049"/>
              <a:ext cx="6096000" cy="3524041"/>
              <a:chOff x="0" y="439414"/>
              <a:chExt cx="6096000" cy="3524041"/>
            </a:xfrm>
          </p:grpSpPr>
          <p:sp>
            <p:nvSpPr>
              <p:cNvPr id="2" name="Rectangle 1"/>
              <p:cNvSpPr/>
              <p:nvPr/>
            </p:nvSpPr>
            <p:spPr>
              <a:xfrm>
                <a:off x="0" y="439414"/>
                <a:ext cx="4168129" cy="523220"/>
              </a:xfrm>
              <a:prstGeom prst="rect">
                <a:avLst/>
              </a:prstGeom>
            </p:spPr>
            <p:txBody>
              <a:bodyPr wrap="none">
                <a:spAutoFit/>
              </a:bodyPr>
              <a:lstStyle/>
              <a:p>
                <a:pPr algn="just"/>
                <a:r>
                  <a:rPr lang="en-US" sz="2800" dirty="0">
                    <a:ln w="0"/>
                    <a:latin typeface="Aharoni" panose="02010803020104030203" pitchFamily="2" charset="-79"/>
                    <a:cs typeface="Aharoni" panose="02010803020104030203" pitchFamily="2" charset="-79"/>
                  </a:rPr>
                  <a:t>1</a:t>
                </a:r>
                <a:r>
                  <a:rPr lang="en-US" dirty="0">
                    <a:ln w="0"/>
                  </a:rPr>
                  <a:t>. </a:t>
                </a:r>
                <a:r>
                  <a:rPr lang="en-US" sz="2800" dirty="0" smtClean="0">
                    <a:ln w="0"/>
                    <a:latin typeface="Aharoni" panose="02010803020104030203" pitchFamily="2" charset="-79"/>
                    <a:cs typeface="Aharoni" panose="02010803020104030203" pitchFamily="2" charset="-79"/>
                  </a:rPr>
                  <a:t>IoT(Internet Of Things)</a:t>
                </a:r>
                <a:endParaRPr lang="en-US" dirty="0">
                  <a:ln w="0"/>
                  <a:latin typeface="Aharoni" panose="02010803020104030203" pitchFamily="2" charset="-79"/>
                  <a:cs typeface="Aharoni" panose="02010803020104030203" pitchFamily="2" charset="-79"/>
                </a:endParaRPr>
              </a:p>
            </p:txBody>
          </p:sp>
          <p:sp>
            <p:nvSpPr>
              <p:cNvPr id="3" name="Rectangle 2"/>
              <p:cNvSpPr/>
              <p:nvPr/>
            </p:nvSpPr>
            <p:spPr>
              <a:xfrm>
                <a:off x="0" y="912028"/>
                <a:ext cx="6096000" cy="923330"/>
              </a:xfrm>
              <a:prstGeom prst="rect">
                <a:avLst/>
              </a:prstGeom>
            </p:spPr>
            <p:txBody>
              <a:bodyPr>
                <a:spAutoFit/>
              </a:bodyPr>
              <a:lstStyle/>
              <a:p>
                <a:pPr algn="just"/>
                <a:r>
                  <a:rPr lang="en-US" dirty="0">
                    <a:ln w="0"/>
                    <a:solidFill>
                      <a:srgbClr val="00B0F0"/>
                    </a:solidFill>
                    <a:latin typeface="Proxima Nova"/>
                  </a:rPr>
                  <a:t>IoT</a:t>
                </a:r>
                <a:r>
                  <a:rPr lang="en-US" dirty="0">
                    <a:ln w="0"/>
                    <a:latin typeface="Proxima Nova"/>
                  </a:rPr>
                  <a:t> is driving business changes by providing the data needed to improve marketing, increase sales, and decrease costs, the report found.</a:t>
                </a:r>
                <a:endParaRPr lang="en-US" dirty="0">
                  <a:ln w="0"/>
                </a:endParaRPr>
              </a:p>
            </p:txBody>
          </p:sp>
          <p:sp>
            <p:nvSpPr>
              <p:cNvPr id="4" name="Rectangle 3"/>
              <p:cNvSpPr/>
              <p:nvPr/>
            </p:nvSpPr>
            <p:spPr>
              <a:xfrm>
                <a:off x="0" y="1839797"/>
                <a:ext cx="6096000" cy="1754326"/>
              </a:xfrm>
              <a:prstGeom prst="rect">
                <a:avLst/>
              </a:prstGeom>
            </p:spPr>
            <p:txBody>
              <a:bodyPr>
                <a:spAutoFit/>
              </a:bodyPr>
              <a:lstStyle/>
              <a:p>
                <a:pPr algn="just"/>
                <a:r>
                  <a:rPr lang="en-US" dirty="0">
                    <a:ln w="0"/>
                    <a:latin typeface="Proxima Nova"/>
                  </a:rPr>
                  <a:t>"Everybody in the </a:t>
                </a:r>
                <a:r>
                  <a:rPr lang="en-US" dirty="0" smtClean="0">
                    <a:ln w="0"/>
                    <a:latin typeface="Proxima Nova"/>
                  </a:rPr>
                  <a:t>technology </a:t>
                </a:r>
                <a:r>
                  <a:rPr lang="en-US" dirty="0">
                    <a:ln w="0"/>
                    <a:latin typeface="Proxima Nova"/>
                  </a:rPr>
                  <a:t>world, as well as many consumers, is hearing the term Internet of Things," Frank Raimondi, a member of the CompTIA Emerging Technology Community leadership group who works in strategic channel and business development for Chargifi, said in a press release</a:t>
                </a:r>
                <a:r>
                  <a:rPr lang="en-US" dirty="0" smtClean="0">
                    <a:ln w="0"/>
                    <a:latin typeface="Proxima Nova"/>
                  </a:rPr>
                  <a:t>.</a:t>
                </a:r>
                <a:r>
                  <a:rPr lang="en-US" dirty="0">
                    <a:ln w="0"/>
                    <a:latin typeface="Proxima Nova"/>
                  </a:rPr>
                  <a:t> </a:t>
                </a:r>
                <a:endParaRPr lang="en-US" dirty="0">
                  <a:ln w="0"/>
                </a:endParaRPr>
              </a:p>
            </p:txBody>
          </p:sp>
          <p:sp>
            <p:nvSpPr>
              <p:cNvPr id="5" name="Rectangle 4"/>
              <p:cNvSpPr/>
              <p:nvPr/>
            </p:nvSpPr>
            <p:spPr>
              <a:xfrm>
                <a:off x="0" y="3594123"/>
                <a:ext cx="6096000" cy="369332"/>
              </a:xfrm>
              <a:prstGeom prst="rect">
                <a:avLst/>
              </a:prstGeom>
            </p:spPr>
            <p:txBody>
              <a:bodyPr>
                <a:spAutoFit/>
              </a:bodyPr>
              <a:lstStyle/>
              <a:p>
                <a:pPr algn="just"/>
                <a:endParaRPr lang="en-US" dirty="0">
                  <a:ln w="0"/>
                </a:endParaRPr>
              </a:p>
            </p:txBody>
          </p:sp>
        </p:gr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93747" y="1302269"/>
              <a:ext cx="5631653" cy="3976255"/>
            </a:xfrm>
            <a:prstGeom prst="rect">
              <a:avLst/>
            </a:prstGeom>
          </p:spPr>
        </p:pic>
      </p:grpSp>
    </p:spTree>
    <p:extLst>
      <p:ext uri="{BB962C8B-B14F-4D97-AF65-F5344CB8AC3E}">
        <p14:creationId xmlns:p14="http://schemas.microsoft.com/office/powerpoint/2010/main" val="1328756652"/>
      </p:ext>
    </p:extLst>
  </p:cSld>
  <p:clrMapOvr>
    <a:masterClrMapping/>
  </p:clrMapOvr>
  <p:transition spd="med">
    <p:pull/>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a:off x="0" y="849085"/>
            <a:ext cx="12192000" cy="4692734"/>
            <a:chOff x="0" y="849085"/>
            <a:chExt cx="12192000" cy="4692734"/>
          </a:xfrm>
        </p:grpSpPr>
        <p:sp>
          <p:nvSpPr>
            <p:cNvPr id="3" name="Rectangle 2"/>
            <p:cNvSpPr/>
            <p:nvPr/>
          </p:nvSpPr>
          <p:spPr>
            <a:xfrm>
              <a:off x="0" y="849085"/>
              <a:ext cx="4639412" cy="523220"/>
            </a:xfrm>
            <a:prstGeom prst="rect">
              <a:avLst/>
            </a:prstGeom>
          </p:spPr>
          <p:txBody>
            <a:bodyPr wrap="none">
              <a:spAutoFit/>
            </a:bodyPr>
            <a:lstStyle/>
            <a:p>
              <a:pPr algn="just"/>
              <a:r>
                <a:rPr lang="en-US" sz="2800" b="1" dirty="0">
                  <a:solidFill>
                    <a:srgbClr val="333333"/>
                  </a:solidFill>
                  <a:latin typeface="Aharoni" panose="02010803020104030203" pitchFamily="2" charset="-79"/>
                  <a:cs typeface="Aharoni" panose="02010803020104030203" pitchFamily="2" charset="-79"/>
                </a:rPr>
                <a:t>2. Artificial Intelligence (AI)</a:t>
              </a:r>
              <a:endParaRPr lang="en-US" sz="2800" b="1" i="0" dirty="0">
                <a:solidFill>
                  <a:srgbClr val="333333"/>
                </a:solidFill>
                <a:latin typeface="Aharoni" panose="02010803020104030203" pitchFamily="2" charset="-79"/>
                <a:cs typeface="Aharoni" panose="02010803020104030203" pitchFamily="2" charset="-79"/>
              </a:endParaRPr>
            </a:p>
          </p:txBody>
        </p:sp>
        <p:sp>
          <p:nvSpPr>
            <p:cNvPr id="4" name="Rectangle 3"/>
            <p:cNvSpPr/>
            <p:nvPr/>
          </p:nvSpPr>
          <p:spPr>
            <a:xfrm>
              <a:off x="90423" y="1391922"/>
              <a:ext cx="6096000" cy="1200329"/>
            </a:xfrm>
            <a:prstGeom prst="rect">
              <a:avLst/>
            </a:prstGeom>
          </p:spPr>
          <p:txBody>
            <a:bodyPr>
              <a:spAutoFit/>
            </a:bodyPr>
            <a:lstStyle/>
            <a:p>
              <a:pPr algn="just"/>
              <a:r>
                <a:rPr lang="en-US" b="1" dirty="0">
                  <a:solidFill>
                    <a:srgbClr val="00B0F0"/>
                  </a:solidFill>
                  <a:latin typeface="Proxima Nova"/>
                </a:rPr>
                <a:t>AI</a:t>
              </a:r>
              <a:r>
                <a:rPr lang="en-US" dirty="0">
                  <a:solidFill>
                    <a:srgbClr val="333333"/>
                  </a:solidFill>
                  <a:latin typeface="Proxima Nova"/>
                </a:rPr>
                <a:t> is already significantly impacting the way customers interact with businesses via intelligent websites and bots, and these tools are becoming increasingly commoditized and integrated into daily work, the report noted.</a:t>
              </a:r>
              <a:endParaRPr lang="en-US" dirty="0"/>
            </a:p>
          </p:txBody>
        </p:sp>
        <p:sp>
          <p:nvSpPr>
            <p:cNvPr id="5" name="Rectangle 4"/>
            <p:cNvSpPr/>
            <p:nvPr/>
          </p:nvSpPr>
          <p:spPr>
            <a:xfrm>
              <a:off x="90423" y="2765756"/>
              <a:ext cx="6096000" cy="1754326"/>
            </a:xfrm>
            <a:prstGeom prst="rect">
              <a:avLst/>
            </a:prstGeom>
          </p:spPr>
          <p:txBody>
            <a:bodyPr>
              <a:spAutoFit/>
            </a:bodyPr>
            <a:lstStyle/>
            <a:p>
              <a:pPr algn="just"/>
              <a:r>
                <a:rPr lang="en-US" dirty="0">
                  <a:solidFill>
                    <a:srgbClr val="333333"/>
                  </a:solidFill>
                  <a:latin typeface="Proxima Nova"/>
                </a:rPr>
                <a:t>"The largest impacts across all industries—from retail to healthcare, hospitality to finance—are felt when AI improves data security, decision-making speed and accuracy, and employee output and training," Maddy Martin, community vice chair and head of growth and education for Smith.ai, said in the release</a:t>
              </a:r>
              <a:r>
                <a:rPr lang="en-US" dirty="0" smtClean="0">
                  <a:solidFill>
                    <a:srgbClr val="333333"/>
                  </a:solidFill>
                  <a:latin typeface="Proxima Nova"/>
                </a:rPr>
                <a:t>.</a:t>
              </a:r>
              <a:endParaRPr lang="en-US" dirty="0"/>
            </a:p>
          </p:txBody>
        </p:sp>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colorTemperature colorTemp="5900"/>
                      </a14:imgEffect>
                    </a14:imgLayer>
                  </a14:imgProps>
                </a:ext>
                <a:ext uri="{28A0092B-C50C-407E-A947-70E740481C1C}">
                  <a14:useLocalDpi xmlns:a14="http://schemas.microsoft.com/office/drawing/2010/main" val="0"/>
                </a:ext>
              </a:extLst>
            </a:blip>
            <a:stretch>
              <a:fillRect/>
            </a:stretch>
          </p:blipFill>
          <p:spPr>
            <a:xfrm>
              <a:off x="6186423" y="1557144"/>
              <a:ext cx="6005577" cy="3984675"/>
            </a:xfrm>
            <a:prstGeom prst="rect">
              <a:avLst/>
            </a:prstGeom>
          </p:spPr>
        </p:pic>
      </p:grpSp>
    </p:spTree>
    <p:extLst>
      <p:ext uri="{BB962C8B-B14F-4D97-AF65-F5344CB8AC3E}">
        <p14:creationId xmlns:p14="http://schemas.microsoft.com/office/powerpoint/2010/main" val="177779138"/>
      </p:ext>
    </p:extLst>
  </p:cSld>
  <p:clrMapOvr>
    <a:masterClrMapping/>
  </p:clrMapOvr>
  <p:transition spd="med">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11038" y="556251"/>
            <a:ext cx="11969925" cy="4690279"/>
            <a:chOff x="222075" y="556251"/>
            <a:chExt cx="11969925" cy="4690279"/>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18075" y="1573872"/>
              <a:ext cx="5873925" cy="3672658"/>
            </a:xfrm>
            <a:prstGeom prst="rect">
              <a:avLst/>
            </a:prstGeom>
          </p:spPr>
        </p:pic>
        <p:sp>
          <p:nvSpPr>
            <p:cNvPr id="2" name="Rectangle 1"/>
            <p:cNvSpPr/>
            <p:nvPr/>
          </p:nvSpPr>
          <p:spPr>
            <a:xfrm>
              <a:off x="222075" y="556251"/>
              <a:ext cx="1384656" cy="523220"/>
            </a:xfrm>
            <a:prstGeom prst="rect">
              <a:avLst/>
            </a:prstGeom>
          </p:spPr>
          <p:txBody>
            <a:bodyPr wrap="square">
              <a:spAutoFit/>
            </a:bodyPr>
            <a:lstStyle/>
            <a:p>
              <a:r>
                <a:rPr lang="en-US" sz="2800" b="1" dirty="0">
                  <a:solidFill>
                    <a:srgbClr val="333333"/>
                  </a:solidFill>
                  <a:latin typeface="Aharoni" panose="02010803020104030203" pitchFamily="2" charset="-79"/>
                  <a:cs typeface="Aharoni" panose="02010803020104030203" pitchFamily="2" charset="-79"/>
                </a:rPr>
                <a:t>3. 5G</a:t>
              </a:r>
              <a:endParaRPr lang="en-US" sz="2800" b="1" i="0" dirty="0">
                <a:solidFill>
                  <a:srgbClr val="333333"/>
                </a:solidFill>
                <a:latin typeface="Aharoni" panose="02010803020104030203" pitchFamily="2" charset="-79"/>
                <a:cs typeface="Aharoni" panose="02010803020104030203" pitchFamily="2" charset="-79"/>
              </a:endParaRPr>
            </a:p>
          </p:txBody>
        </p:sp>
        <p:sp>
          <p:nvSpPr>
            <p:cNvPr id="3" name="Rectangle 2"/>
            <p:cNvSpPr/>
            <p:nvPr/>
          </p:nvSpPr>
          <p:spPr>
            <a:xfrm>
              <a:off x="222075" y="1079471"/>
              <a:ext cx="6096000" cy="1754326"/>
            </a:xfrm>
            <a:prstGeom prst="rect">
              <a:avLst/>
            </a:prstGeom>
          </p:spPr>
          <p:txBody>
            <a:bodyPr>
              <a:spAutoFit/>
            </a:bodyPr>
            <a:lstStyle/>
            <a:p>
              <a:pPr algn="just"/>
              <a:r>
                <a:rPr lang="en-US" dirty="0">
                  <a:solidFill>
                    <a:srgbClr val="333333"/>
                  </a:solidFill>
                  <a:latin typeface="Proxima Nova"/>
                </a:rPr>
                <a:t>The rise of </a:t>
              </a:r>
              <a:r>
                <a:rPr lang="en-US" dirty="0" smtClean="0">
                  <a:solidFill>
                    <a:srgbClr val="00B0F0"/>
                  </a:solidFill>
                  <a:latin typeface="Proxima Nova"/>
                </a:rPr>
                <a:t>5G Network</a:t>
              </a:r>
              <a:r>
                <a:rPr lang="en-US" dirty="0">
                  <a:solidFill>
                    <a:srgbClr val="333333"/>
                  </a:solidFill>
                  <a:latin typeface="Proxima Nova"/>
                </a:rPr>
                <a:t> is increasing our ability to move, manipulate, and analyze data across wireless platforms, according to CompTIA. As 5G rolls out more fully in the coming years, it will drive the development of more complex apps to solve problems and increase growth across industries.</a:t>
              </a:r>
              <a:endParaRPr lang="en-US" dirty="0"/>
            </a:p>
          </p:txBody>
        </p:sp>
        <p:sp>
          <p:nvSpPr>
            <p:cNvPr id="4" name="Rectangle 3"/>
            <p:cNvSpPr/>
            <p:nvPr/>
          </p:nvSpPr>
          <p:spPr>
            <a:xfrm>
              <a:off x="222075" y="2833797"/>
              <a:ext cx="6096000" cy="2031325"/>
            </a:xfrm>
            <a:prstGeom prst="rect">
              <a:avLst/>
            </a:prstGeom>
          </p:spPr>
          <p:txBody>
            <a:bodyPr>
              <a:spAutoFit/>
            </a:bodyPr>
            <a:lstStyle/>
            <a:p>
              <a:pPr algn="just"/>
              <a:r>
                <a:rPr lang="en-US" dirty="0">
                  <a:solidFill>
                    <a:srgbClr val="333333"/>
                  </a:solidFill>
                  <a:latin typeface="Proxima Nova"/>
                </a:rPr>
                <a:t>"The development and deployment of 5G is going to enable business impact at a level few technologies ever have, providing wireless at the speed and latency needed for complex solutions like driverless vehicles," Michael Haines, community chair and director of partner incentive strategy and program design for Microsoft, said in the release. </a:t>
              </a:r>
              <a:endParaRPr lang="en-US" dirty="0"/>
            </a:p>
          </p:txBody>
        </p:sp>
      </p:grpSp>
    </p:spTree>
    <p:extLst>
      <p:ext uri="{BB962C8B-B14F-4D97-AF65-F5344CB8AC3E}">
        <p14:creationId xmlns:p14="http://schemas.microsoft.com/office/powerpoint/2010/main" val="1281970585"/>
      </p:ext>
    </p:extLst>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387835" y="631762"/>
            <a:ext cx="11416330" cy="3331693"/>
            <a:chOff x="673117" y="631762"/>
            <a:chExt cx="11416330" cy="3331693"/>
          </a:xfrm>
        </p:grpSpPr>
        <p:sp>
          <p:nvSpPr>
            <p:cNvPr id="2" name="Rectangle 1"/>
            <p:cNvSpPr/>
            <p:nvPr/>
          </p:nvSpPr>
          <p:spPr>
            <a:xfrm>
              <a:off x="673117" y="1354491"/>
              <a:ext cx="6589831" cy="1477328"/>
            </a:xfrm>
            <a:prstGeom prst="rect">
              <a:avLst/>
            </a:prstGeom>
          </p:spPr>
          <p:txBody>
            <a:bodyPr wrap="square">
              <a:spAutoFit/>
            </a:bodyPr>
            <a:lstStyle/>
            <a:p>
              <a:pPr algn="just"/>
              <a:r>
                <a:rPr lang="en-US" dirty="0">
                  <a:solidFill>
                    <a:srgbClr val="00B0F0"/>
                  </a:solidFill>
                  <a:latin typeface="Proxima Nova"/>
                </a:rPr>
                <a:t>Serverless computing</a:t>
              </a:r>
              <a:r>
                <a:rPr lang="en-US" dirty="0">
                  <a:latin typeface="Proxima Nova"/>
                </a:rPr>
                <a:t> allows organizations to create a NoOps IT environment that is automated and abstracted from underlying infrastructure, reducing operational costs and allowing businesses to invest in developing new capabilities that add more value, the report found.</a:t>
              </a:r>
              <a:endParaRPr lang="en-US" b="1" i="0" dirty="0">
                <a:solidFill>
                  <a:srgbClr val="333333"/>
                </a:solidFill>
                <a:latin typeface="Proxima Nova"/>
              </a:endParaRPr>
            </a:p>
          </p:txBody>
        </p:sp>
        <p:sp>
          <p:nvSpPr>
            <p:cNvPr id="3" name="Rectangle 2"/>
            <p:cNvSpPr/>
            <p:nvPr/>
          </p:nvSpPr>
          <p:spPr>
            <a:xfrm>
              <a:off x="673118" y="631762"/>
              <a:ext cx="4131259" cy="523220"/>
            </a:xfrm>
            <a:prstGeom prst="rect">
              <a:avLst/>
            </a:prstGeom>
          </p:spPr>
          <p:txBody>
            <a:bodyPr wrap="none">
              <a:spAutoFit/>
            </a:bodyPr>
            <a:lstStyle/>
            <a:p>
              <a:r>
                <a:rPr lang="en-US" sz="2800" b="1" dirty="0">
                  <a:solidFill>
                    <a:srgbClr val="333333"/>
                  </a:solidFill>
                  <a:latin typeface="Aharoni" panose="02010803020104030203" pitchFamily="2" charset="-79"/>
                  <a:cs typeface="Aharoni" panose="02010803020104030203" pitchFamily="2" charset="-79"/>
                </a:rPr>
                <a:t>4. Serverless computing</a:t>
              </a:r>
              <a:endParaRPr lang="en-US" sz="2800" b="1" i="0" dirty="0">
                <a:solidFill>
                  <a:srgbClr val="333333"/>
                </a:solidFill>
                <a:latin typeface="Aharoni" panose="02010803020104030203" pitchFamily="2" charset="-79"/>
                <a:cs typeface="Aharoni" panose="02010803020104030203" pitchFamily="2" charset="-79"/>
              </a:endParaRPr>
            </a:p>
          </p:txBody>
        </p:sp>
        <p:sp>
          <p:nvSpPr>
            <p:cNvPr id="4" name="Rectangle 3"/>
            <p:cNvSpPr/>
            <p:nvPr/>
          </p:nvSpPr>
          <p:spPr>
            <a:xfrm>
              <a:off x="673118" y="3040125"/>
              <a:ext cx="6589831" cy="923330"/>
            </a:xfrm>
            <a:prstGeom prst="rect">
              <a:avLst/>
            </a:prstGeom>
          </p:spPr>
          <p:txBody>
            <a:bodyPr wrap="square">
              <a:spAutoFit/>
            </a:bodyPr>
            <a:lstStyle/>
            <a:p>
              <a:pPr algn="just"/>
              <a:r>
                <a:rPr lang="en-US" dirty="0">
                  <a:solidFill>
                    <a:srgbClr val="333333"/>
                  </a:solidFill>
                  <a:latin typeface="Proxima Nova"/>
                </a:rPr>
                <a:t>Serverless computing was new on the list this year, along with robotics, replaced quantum computing, and automation, CompTIA noted.</a:t>
              </a:r>
              <a:endParaRPr lang="en-US" dirty="0">
                <a:latin typeface="Proxima Nova"/>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62948" y="1354491"/>
              <a:ext cx="4826499" cy="2583473"/>
            </a:xfrm>
            <a:prstGeom prst="rect">
              <a:avLst/>
            </a:prstGeom>
          </p:spPr>
        </p:pic>
      </p:grpSp>
    </p:spTree>
    <p:extLst>
      <p:ext uri="{BB962C8B-B14F-4D97-AF65-F5344CB8AC3E}">
        <p14:creationId xmlns:p14="http://schemas.microsoft.com/office/powerpoint/2010/main" val="3267315635"/>
      </p:ext>
    </p:extLst>
  </p:cSld>
  <p:clrMapOvr>
    <a:masterClrMapping/>
  </p:clrMapOvr>
  <p:transition spd="med">
    <p:pull/>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147848" y="553386"/>
            <a:ext cx="11896304" cy="4058746"/>
            <a:chOff x="74023" y="553386"/>
            <a:chExt cx="11896304" cy="4058746"/>
          </a:xfrm>
        </p:grpSpPr>
        <p:sp>
          <p:nvSpPr>
            <p:cNvPr id="2" name="Rectangle 1"/>
            <p:cNvSpPr/>
            <p:nvPr/>
          </p:nvSpPr>
          <p:spPr>
            <a:xfrm>
              <a:off x="182880" y="553386"/>
              <a:ext cx="2327881" cy="523220"/>
            </a:xfrm>
            <a:prstGeom prst="rect">
              <a:avLst/>
            </a:prstGeom>
          </p:spPr>
          <p:txBody>
            <a:bodyPr wrap="none">
              <a:spAutoFit/>
            </a:bodyPr>
            <a:lstStyle/>
            <a:p>
              <a:r>
                <a:rPr lang="en-US" sz="2800" b="1" dirty="0">
                  <a:solidFill>
                    <a:srgbClr val="333333"/>
                  </a:solidFill>
                  <a:latin typeface="Aharoni" panose="02010803020104030203" pitchFamily="2" charset="-79"/>
                  <a:cs typeface="Aharoni" panose="02010803020104030203" pitchFamily="2" charset="-79"/>
                </a:rPr>
                <a:t>5. Blockchain</a:t>
              </a:r>
              <a:endParaRPr lang="en-US" sz="2800" b="1" i="0" dirty="0">
                <a:solidFill>
                  <a:srgbClr val="333333"/>
                </a:solidFill>
                <a:latin typeface="Aharoni" panose="02010803020104030203" pitchFamily="2" charset="-79"/>
                <a:cs typeface="Aharoni" panose="02010803020104030203" pitchFamily="2" charset="-79"/>
              </a:endParaRPr>
            </a:p>
          </p:txBody>
        </p:sp>
        <p:sp>
          <p:nvSpPr>
            <p:cNvPr id="3" name="Rectangle 2"/>
            <p:cNvSpPr/>
            <p:nvPr/>
          </p:nvSpPr>
          <p:spPr>
            <a:xfrm>
              <a:off x="104503" y="1151598"/>
              <a:ext cx="6096000" cy="923330"/>
            </a:xfrm>
            <a:prstGeom prst="rect">
              <a:avLst/>
            </a:prstGeom>
          </p:spPr>
          <p:txBody>
            <a:bodyPr>
              <a:spAutoFit/>
            </a:bodyPr>
            <a:lstStyle/>
            <a:p>
              <a:pPr algn="just"/>
              <a:r>
                <a:rPr lang="en-US" dirty="0" smtClean="0">
                  <a:solidFill>
                    <a:srgbClr val="333333"/>
                  </a:solidFill>
                  <a:latin typeface="Proxima Nova"/>
                </a:rPr>
                <a:t>More organizations </a:t>
              </a:r>
              <a:r>
                <a:rPr lang="en-US" dirty="0">
                  <a:solidFill>
                    <a:srgbClr val="333333"/>
                  </a:solidFill>
                  <a:latin typeface="Proxima Nova"/>
                </a:rPr>
                <a:t>are exploring and implementing </a:t>
              </a:r>
              <a:r>
                <a:rPr lang="en-US" dirty="0">
                  <a:solidFill>
                    <a:srgbClr val="3289C8"/>
                  </a:solidFill>
                  <a:latin typeface="Proxima Nova"/>
                </a:rPr>
                <a:t>blockchain</a:t>
              </a:r>
              <a:r>
                <a:rPr lang="en-US" dirty="0">
                  <a:solidFill>
                    <a:srgbClr val="333333"/>
                  </a:solidFill>
                  <a:latin typeface="Proxima Nova"/>
                </a:rPr>
                <a:t> to solve the increased need to secure and manage transactions across the internet.</a:t>
              </a:r>
              <a:endParaRPr lang="en-US" dirty="0"/>
            </a:p>
          </p:txBody>
        </p:sp>
        <p:sp>
          <p:nvSpPr>
            <p:cNvPr id="4" name="Rectangle 3"/>
            <p:cNvSpPr/>
            <p:nvPr/>
          </p:nvSpPr>
          <p:spPr>
            <a:xfrm>
              <a:off x="74023" y="2303808"/>
              <a:ext cx="6096000" cy="2308324"/>
            </a:xfrm>
            <a:prstGeom prst="rect">
              <a:avLst/>
            </a:prstGeom>
          </p:spPr>
          <p:txBody>
            <a:bodyPr>
              <a:spAutoFit/>
            </a:bodyPr>
            <a:lstStyle/>
            <a:p>
              <a:pPr algn="just"/>
              <a:r>
                <a:rPr lang="en-US" dirty="0">
                  <a:solidFill>
                    <a:srgbClr val="333333"/>
                  </a:solidFill>
                  <a:latin typeface="Proxima Nova"/>
                </a:rPr>
                <a:t>"Blockchain came down crushing from its peak of hype cycle, and that's probably for the best," said Julia Moiseeva, a member of the community's leadership group and founder of CLaaS (C-Level as a Service) Management Solutions Ltd, in the release. "Now that the luster of novelty and furor of the masses are gone, the dynamic of work around blockchain took a complete U-turn, again, for the best."</a:t>
              </a:r>
              <a:endParaRPr lang="en-US"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00503" y="1066705"/>
              <a:ext cx="5769824" cy="3319624"/>
            </a:xfrm>
            <a:prstGeom prst="rect">
              <a:avLst/>
            </a:prstGeom>
          </p:spPr>
        </p:pic>
      </p:grpSp>
    </p:spTree>
    <p:extLst>
      <p:ext uri="{BB962C8B-B14F-4D97-AF65-F5344CB8AC3E}">
        <p14:creationId xmlns:p14="http://schemas.microsoft.com/office/powerpoint/2010/main" val="1415695159"/>
      </p:ext>
    </p:extLst>
  </p:cSld>
  <p:clrMapOvr>
    <a:masterClrMapping/>
  </p:clrMapOvr>
  <p:transition spd="med">
    <p:pull/>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1924695" y="566448"/>
            <a:ext cx="8342611" cy="5695807"/>
            <a:chOff x="718262" y="566448"/>
            <a:chExt cx="8342611" cy="6185113"/>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8262" y="1189821"/>
              <a:ext cx="8342611" cy="5561740"/>
            </a:xfrm>
            <a:prstGeom prst="rect">
              <a:avLst/>
            </a:prstGeom>
          </p:spPr>
        </p:pic>
        <p:sp>
          <p:nvSpPr>
            <p:cNvPr id="3" name="Rectangle 2"/>
            <p:cNvSpPr/>
            <p:nvPr/>
          </p:nvSpPr>
          <p:spPr>
            <a:xfrm>
              <a:off x="718262" y="1324094"/>
              <a:ext cx="5839292" cy="1002650"/>
            </a:xfrm>
            <a:prstGeom prst="rect">
              <a:avLst/>
            </a:prstGeom>
          </p:spPr>
          <p:txBody>
            <a:bodyPr wrap="square">
              <a:spAutoFit/>
            </a:bodyPr>
            <a:lstStyle/>
            <a:p>
              <a:pPr algn="just"/>
              <a:r>
                <a:rPr lang="en-US" dirty="0">
                  <a:solidFill>
                    <a:srgbClr val="00B0F0"/>
                  </a:solidFill>
                  <a:latin typeface="Proxima Nova"/>
                </a:rPr>
                <a:t>Robotics</a:t>
              </a:r>
              <a:r>
                <a:rPr lang="en-US" dirty="0">
                  <a:latin typeface="Proxima Nova"/>
                </a:rPr>
                <a:t> is automating routine processes by using machines to make businesses faster, less expensive, and more efficient, the report found.</a:t>
              </a:r>
            </a:p>
          </p:txBody>
        </p:sp>
        <p:sp>
          <p:nvSpPr>
            <p:cNvPr id="4" name="Rectangle 3"/>
            <p:cNvSpPr/>
            <p:nvPr/>
          </p:nvSpPr>
          <p:spPr>
            <a:xfrm>
              <a:off x="718262" y="566448"/>
              <a:ext cx="1938351" cy="523220"/>
            </a:xfrm>
            <a:prstGeom prst="rect">
              <a:avLst/>
            </a:prstGeom>
          </p:spPr>
          <p:txBody>
            <a:bodyPr wrap="none">
              <a:spAutoFit/>
            </a:bodyPr>
            <a:lstStyle/>
            <a:p>
              <a:r>
                <a:rPr lang="en-US" sz="2800" b="1" dirty="0">
                  <a:solidFill>
                    <a:srgbClr val="333333"/>
                  </a:solidFill>
                  <a:latin typeface="Aharoni" panose="02010803020104030203" pitchFamily="2" charset="-79"/>
                  <a:cs typeface="Aharoni" panose="02010803020104030203" pitchFamily="2" charset="-79"/>
                </a:rPr>
                <a:t>6. Robotics</a:t>
              </a:r>
              <a:endParaRPr lang="en-US" sz="2800" b="1" i="0" dirty="0">
                <a:solidFill>
                  <a:srgbClr val="333333"/>
                </a:solidFill>
                <a:effectLst/>
                <a:latin typeface="Aharoni" panose="02010803020104030203" pitchFamily="2" charset="-79"/>
                <a:cs typeface="Aharoni" panose="02010803020104030203" pitchFamily="2" charset="-79"/>
              </a:endParaRPr>
            </a:p>
          </p:txBody>
        </p:sp>
      </p:grpSp>
    </p:spTree>
    <p:extLst>
      <p:ext uri="{BB962C8B-B14F-4D97-AF65-F5344CB8AC3E}">
        <p14:creationId xmlns:p14="http://schemas.microsoft.com/office/powerpoint/2010/main" val="284509113"/>
      </p:ext>
    </p:extLst>
  </p:cSld>
  <p:clrMapOvr>
    <a:masterClrMapping/>
  </p:clrMapOvr>
  <p:transition spd="med">
    <p:pull/>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988668" y="613954"/>
            <a:ext cx="10214665" cy="5401300"/>
            <a:chOff x="418011" y="613954"/>
            <a:chExt cx="10214665" cy="5401300"/>
          </a:xfrm>
        </p:grpSpPr>
        <p:sp>
          <p:nvSpPr>
            <p:cNvPr id="2" name="Rectangle 1"/>
            <p:cNvSpPr/>
            <p:nvPr/>
          </p:nvSpPr>
          <p:spPr>
            <a:xfrm>
              <a:off x="418011" y="1441659"/>
              <a:ext cx="6949440" cy="1200329"/>
            </a:xfrm>
            <a:prstGeom prst="rect">
              <a:avLst/>
            </a:prstGeom>
          </p:spPr>
          <p:txBody>
            <a:bodyPr wrap="square">
              <a:spAutoFit/>
            </a:bodyPr>
            <a:lstStyle/>
            <a:p>
              <a:pPr algn="just"/>
              <a:r>
                <a:rPr lang="en-US" dirty="0" smtClean="0">
                  <a:solidFill>
                    <a:srgbClr val="00B0F0"/>
                  </a:solidFill>
                  <a:latin typeface="Proxima Nova"/>
                </a:rPr>
                <a:t>Biometrics</a:t>
              </a:r>
              <a:r>
                <a:rPr lang="en-US" dirty="0" smtClean="0">
                  <a:latin typeface="Proxima Nova"/>
                </a:rPr>
                <a:t>—including face, fingerprint, and retina scans—are becoming mainstream methods for verifying identity. These methods will form the secure foundation for solutions delivered by IT companies moving forward, CompTIA said.</a:t>
              </a:r>
              <a:endParaRPr lang="en-US" dirty="0">
                <a:latin typeface="Proxima Nova"/>
              </a:endParaRPr>
            </a:p>
          </p:txBody>
        </p:sp>
        <p:sp>
          <p:nvSpPr>
            <p:cNvPr id="3" name="TextBox 2"/>
            <p:cNvSpPr txBox="1"/>
            <p:nvPr/>
          </p:nvSpPr>
          <p:spPr>
            <a:xfrm>
              <a:off x="418011" y="613954"/>
              <a:ext cx="4415246" cy="523220"/>
            </a:xfrm>
            <a:prstGeom prst="rect">
              <a:avLst/>
            </a:prstGeom>
            <a:noFill/>
          </p:spPr>
          <p:txBody>
            <a:bodyPr wrap="square" rtlCol="0">
              <a:spAutoFit/>
            </a:bodyPr>
            <a:lstStyle/>
            <a:p>
              <a:r>
                <a:rPr lang="en-US" sz="2800" dirty="0" smtClean="0">
                  <a:latin typeface="Aharoni" panose="02010803020104030203" pitchFamily="2" charset="-79"/>
                  <a:cs typeface="Aharoni" panose="02010803020104030203" pitchFamily="2" charset="-79"/>
                </a:rPr>
                <a:t>7. Biometrics</a:t>
              </a:r>
              <a:endParaRPr lang="en-US" sz="2800" dirty="0">
                <a:latin typeface="Aharoni" panose="02010803020104030203" pitchFamily="2" charset="-79"/>
                <a:cs typeface="Aharoni" panose="02010803020104030203" pitchFamily="2" charset="-79"/>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8011" y="2792489"/>
              <a:ext cx="4834147" cy="3222765"/>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52654" y="2792488"/>
              <a:ext cx="4980022" cy="3222765"/>
            </a:xfrm>
            <a:prstGeom prst="rect">
              <a:avLst/>
            </a:prstGeom>
          </p:spPr>
        </p:pic>
      </p:grpSp>
    </p:spTree>
    <p:extLst>
      <p:ext uri="{BB962C8B-B14F-4D97-AF65-F5344CB8AC3E}">
        <p14:creationId xmlns:p14="http://schemas.microsoft.com/office/powerpoint/2010/main" val="1967160690"/>
      </p:ext>
    </p:extLst>
  </p:cSld>
  <p:clrMapOvr>
    <a:masterClrMapping/>
  </p:clrMapOvr>
  <p:transition spd="med">
    <p:pull/>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1370017" y="733587"/>
            <a:ext cx="9451967" cy="5265430"/>
            <a:chOff x="-640476" y="733587"/>
            <a:chExt cx="9451967" cy="5265430"/>
          </a:xfrm>
        </p:grpSpPr>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backgroundRemoval t="6000" b="94000" l="10000" r="90000"/>
                      </a14:imgEffect>
                    </a14:imgLayer>
                  </a14:imgProps>
                </a:ext>
                <a:ext uri="{28A0092B-C50C-407E-A947-70E740481C1C}">
                  <a14:useLocalDpi xmlns:a14="http://schemas.microsoft.com/office/drawing/2010/main" val="0"/>
                </a:ext>
              </a:extLst>
            </a:blip>
            <a:stretch>
              <a:fillRect/>
            </a:stretch>
          </p:blipFill>
          <p:spPr>
            <a:xfrm>
              <a:off x="-640476" y="2923308"/>
              <a:ext cx="4798979" cy="3075709"/>
            </a:xfrm>
            <a:prstGeom prst="rect">
              <a:avLst/>
            </a:prstGeom>
          </p:spPr>
        </p:pic>
        <p:sp>
          <p:nvSpPr>
            <p:cNvPr id="2" name="Rectangle 1"/>
            <p:cNvSpPr/>
            <p:nvPr/>
          </p:nvSpPr>
          <p:spPr>
            <a:xfrm>
              <a:off x="357051" y="733587"/>
              <a:ext cx="6096000" cy="2800767"/>
            </a:xfrm>
            <a:prstGeom prst="rect">
              <a:avLst/>
            </a:prstGeom>
          </p:spPr>
          <p:txBody>
            <a:bodyPr>
              <a:spAutoFit/>
            </a:bodyPr>
            <a:lstStyle/>
            <a:p>
              <a:r>
                <a:rPr lang="en-US" sz="2800" b="1" dirty="0">
                  <a:solidFill>
                    <a:srgbClr val="333333"/>
                  </a:solidFill>
                  <a:latin typeface="Aharoni" panose="02010803020104030203" pitchFamily="2" charset="-79"/>
                  <a:cs typeface="Aharoni" panose="02010803020104030203" pitchFamily="2" charset="-79"/>
                </a:rPr>
                <a:t>8. 3D printing</a:t>
              </a:r>
            </a:p>
            <a:p>
              <a:pPr algn="just"/>
              <a:r>
                <a:rPr lang="en-US" dirty="0"/>
                <a:t/>
              </a:r>
              <a:br>
                <a:rPr lang="en-US" dirty="0"/>
              </a:br>
              <a:r>
                <a:rPr lang="en-US" dirty="0">
                  <a:solidFill>
                    <a:srgbClr val="00B0F0"/>
                  </a:solidFill>
                  <a:latin typeface="Proxima Nova"/>
                </a:rPr>
                <a:t>3D printing</a:t>
              </a:r>
              <a:r>
                <a:rPr lang="en-US" dirty="0">
                  <a:latin typeface="Proxima Nova"/>
                </a:rPr>
                <a:t> offers a solution for the low volume manufacturing of complex parts, as well as fast local production of difficult-to-find products, the report noted. As more affordable products become available, opportunities for this industry will continue to grow, it added.</a:t>
              </a:r>
            </a:p>
            <a:p>
              <a:r>
                <a:rPr lang="en-US" dirty="0"/>
                <a:t/>
              </a:r>
              <a:br>
                <a:rPr lang="en-US" dirty="0"/>
              </a:br>
              <a:endParaRPr lang="en-US" dirty="0"/>
            </a:p>
          </p:txBody>
        </p:sp>
        <p:pic>
          <p:nvPicPr>
            <p:cNvPr id="4" name="Picture 3"/>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3405051" y="2923308"/>
              <a:ext cx="5406440" cy="3040742"/>
            </a:xfrm>
            <a:prstGeom prst="rect">
              <a:avLst/>
            </a:prstGeom>
          </p:spPr>
        </p:pic>
      </p:grpSp>
    </p:spTree>
    <p:extLst>
      <p:ext uri="{BB962C8B-B14F-4D97-AF65-F5344CB8AC3E}">
        <p14:creationId xmlns:p14="http://schemas.microsoft.com/office/powerpoint/2010/main" val="664850505"/>
      </p:ext>
    </p:extLst>
  </p:cSld>
  <p:clrMapOvr>
    <a:masterClrMapping/>
  </p:clrMapOvr>
  <p:transition spd="med">
    <p:pull/>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p:cNvGrpSpPr/>
          <p:nvPr/>
        </p:nvGrpSpPr>
        <p:grpSpPr>
          <a:xfrm>
            <a:off x="165156" y="538738"/>
            <a:ext cx="11861689" cy="5254093"/>
            <a:chOff x="0" y="538738"/>
            <a:chExt cx="11861689" cy="5254093"/>
          </a:xfrm>
        </p:grpSpPr>
        <p:grpSp>
          <p:nvGrpSpPr>
            <p:cNvPr id="5" name="Group 4"/>
            <p:cNvGrpSpPr/>
            <p:nvPr/>
          </p:nvGrpSpPr>
          <p:grpSpPr>
            <a:xfrm>
              <a:off x="0" y="538738"/>
              <a:ext cx="11861689" cy="5254093"/>
              <a:chOff x="205620" y="566448"/>
              <a:chExt cx="11861689" cy="5254093"/>
            </a:xfrm>
          </p:grpSpPr>
          <p:sp>
            <p:nvSpPr>
              <p:cNvPr id="2" name="Rectangle 1"/>
              <p:cNvSpPr/>
              <p:nvPr/>
            </p:nvSpPr>
            <p:spPr>
              <a:xfrm>
                <a:off x="205620" y="566448"/>
                <a:ext cx="5850167" cy="2616101"/>
              </a:xfrm>
              <a:prstGeom prst="rect">
                <a:avLst/>
              </a:prstGeom>
            </p:spPr>
            <p:txBody>
              <a:bodyPr wrap="square">
                <a:spAutoFit/>
              </a:bodyPr>
              <a:lstStyle/>
              <a:p>
                <a:r>
                  <a:rPr lang="en-US" sz="2800" b="1" dirty="0">
                    <a:solidFill>
                      <a:srgbClr val="333333"/>
                    </a:solidFill>
                    <a:latin typeface="Aharoni" panose="02010803020104030203" pitchFamily="2" charset="-79"/>
                    <a:cs typeface="Aharoni" panose="02010803020104030203" pitchFamily="2" charset="-79"/>
                  </a:rPr>
                  <a:t>9. Virtual reality (VR)/Augmented reality (AR</a:t>
                </a:r>
                <a:r>
                  <a:rPr lang="en-US" sz="2800" b="1" dirty="0" smtClean="0">
                    <a:solidFill>
                      <a:srgbClr val="333333"/>
                    </a:solidFill>
                    <a:latin typeface="Aharoni" panose="02010803020104030203" pitchFamily="2" charset="-79"/>
                    <a:cs typeface="Aharoni" panose="02010803020104030203" pitchFamily="2" charset="-79"/>
                  </a:rPr>
                  <a:t>)</a:t>
                </a:r>
              </a:p>
              <a:p>
                <a:endParaRPr lang="en-US" b="1" i="0" dirty="0">
                  <a:solidFill>
                    <a:srgbClr val="333333"/>
                  </a:solidFill>
                  <a:effectLst/>
                  <a:latin typeface="Proxima Nova"/>
                </a:endParaRPr>
              </a:p>
              <a:p>
                <a:pPr algn="just"/>
                <a:endParaRPr lang="en-US" dirty="0" smtClean="0"/>
              </a:p>
              <a:p>
                <a:pPr algn="just"/>
                <a:r>
                  <a:rPr lang="en-US" dirty="0" smtClean="0">
                    <a:latin typeface="Proxima Nova"/>
                  </a:rPr>
                  <a:t>Using </a:t>
                </a:r>
                <a:r>
                  <a:rPr lang="en-US" dirty="0" smtClean="0">
                    <a:solidFill>
                      <a:srgbClr val="00B0F0"/>
                    </a:solidFill>
                    <a:latin typeface="Proxima Nova"/>
                  </a:rPr>
                  <a:t>VR, AR,</a:t>
                </a:r>
                <a:r>
                  <a:rPr lang="en-US" dirty="0" smtClean="0">
                    <a:latin typeface="Proxima Nova"/>
                  </a:rPr>
                  <a:t> mixed reality, AI, and sensor technologies can help organizations improve operational efficiency and individual productivity, according to the report.</a:t>
                </a:r>
                <a:endParaRPr lang="en-US" b="1" i="0" dirty="0">
                  <a:solidFill>
                    <a:srgbClr val="333333"/>
                  </a:solidFill>
                  <a:effectLst/>
                  <a:latin typeface="Proxima Nova"/>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65273" y="1800603"/>
                <a:ext cx="5902036" cy="4019938"/>
              </a:xfrm>
              <a:prstGeom prst="rect">
                <a:avLst/>
              </a:prstGeom>
            </p:spPr>
          </p:pic>
        </p:gr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129" y="3568597"/>
              <a:ext cx="5363908" cy="2224234"/>
            </a:xfrm>
            <a:prstGeom prst="rect">
              <a:avLst/>
            </a:prstGeom>
          </p:spPr>
        </p:pic>
      </p:grpSp>
    </p:spTree>
    <p:extLst>
      <p:ext uri="{BB962C8B-B14F-4D97-AF65-F5344CB8AC3E}">
        <p14:creationId xmlns:p14="http://schemas.microsoft.com/office/powerpoint/2010/main" val="3095919444"/>
      </p:ext>
    </p:extLst>
  </p:cSld>
  <p:clrMapOvr>
    <a:masterClrMapping/>
  </p:clrMapOvr>
  <p:transition spd="med">
    <p:pull/>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2769227" y="875207"/>
            <a:ext cx="6653547" cy="5012591"/>
            <a:chOff x="218307" y="875207"/>
            <a:chExt cx="6653547" cy="5012591"/>
          </a:xfrm>
        </p:grpSpPr>
        <p:sp>
          <p:nvSpPr>
            <p:cNvPr id="2" name="Rectangle 1"/>
            <p:cNvSpPr/>
            <p:nvPr/>
          </p:nvSpPr>
          <p:spPr>
            <a:xfrm>
              <a:off x="218307" y="875207"/>
              <a:ext cx="6653547" cy="1631216"/>
            </a:xfrm>
            <a:prstGeom prst="rect">
              <a:avLst/>
            </a:prstGeom>
          </p:spPr>
          <p:txBody>
            <a:bodyPr wrap="square">
              <a:spAutoFit/>
            </a:bodyPr>
            <a:lstStyle/>
            <a:p>
              <a:pPr algn="just"/>
              <a:r>
                <a:rPr lang="en-US" sz="2800" b="1" dirty="0">
                  <a:solidFill>
                    <a:srgbClr val="333333"/>
                  </a:solidFill>
                  <a:latin typeface="Aharoni" panose="02010803020104030203" pitchFamily="2" charset="-79"/>
                  <a:cs typeface="Aharoni" panose="02010803020104030203" pitchFamily="2" charset="-79"/>
                </a:rPr>
                <a:t>10. </a:t>
              </a:r>
              <a:r>
                <a:rPr lang="en-US" sz="2800" b="1" dirty="0" smtClean="0">
                  <a:solidFill>
                    <a:srgbClr val="333333"/>
                  </a:solidFill>
                  <a:latin typeface="Aharoni" panose="02010803020104030203" pitchFamily="2" charset="-79"/>
                  <a:cs typeface="Aharoni" panose="02010803020104030203" pitchFamily="2" charset="-79"/>
                </a:rPr>
                <a:t>Drones</a:t>
              </a:r>
            </a:p>
            <a:p>
              <a:pPr algn="just"/>
              <a:endParaRPr lang="en-US" b="1" i="0" dirty="0">
                <a:solidFill>
                  <a:srgbClr val="333333"/>
                </a:solidFill>
                <a:effectLst/>
                <a:latin typeface="Proxima Nova"/>
              </a:endParaRPr>
            </a:p>
            <a:p>
              <a:pPr algn="just"/>
              <a:r>
                <a:rPr lang="en-US" dirty="0">
                  <a:solidFill>
                    <a:srgbClr val="00B0F0"/>
                  </a:solidFill>
                  <a:latin typeface="Proxima Nova"/>
                </a:rPr>
                <a:t>Drones</a:t>
              </a:r>
              <a:r>
                <a:rPr lang="en-US" dirty="0">
                  <a:latin typeface="Proxima Nova"/>
                </a:rPr>
                <a:t> enable robotic automation with fewer geographical restrictions, the report noted. Opportunities for development and integration are high for this market, it added</a:t>
              </a:r>
              <a:r>
                <a:rPr lang="en-US" dirty="0"/>
                <a:t>.</a:t>
              </a:r>
              <a:endParaRPr lang="en-US" b="1" i="0" dirty="0">
                <a:solidFill>
                  <a:srgbClr val="333333"/>
                </a:solidFill>
                <a:effectLst/>
                <a:latin typeface="Proxima Nova"/>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6148" y="2506423"/>
              <a:ext cx="3381375" cy="3381375"/>
            </a:xfrm>
            <a:prstGeom prst="rect">
              <a:avLst/>
            </a:prstGeom>
          </p:spPr>
        </p:pic>
      </p:grpSp>
    </p:spTree>
    <p:extLst>
      <p:ext uri="{BB962C8B-B14F-4D97-AF65-F5344CB8AC3E}">
        <p14:creationId xmlns:p14="http://schemas.microsoft.com/office/powerpoint/2010/main" val="1018049728"/>
      </p:ext>
    </p:extLst>
  </p:cSld>
  <p:clrMapOvr>
    <a:masterClrMapping/>
  </p:clrMapOvr>
  <p:transition spd="med">
    <p:pull/>
  </p:transition>
  <p:timing>
    <p:tnLst>
      <p:par>
        <p:cTn id="1" dur="indefinite" restart="never" nodeType="tmRoot"/>
      </p:par>
    </p:tnLst>
  </p:timing>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79</TotalTime>
  <Words>439</Words>
  <Application>Microsoft Office PowerPoint</Application>
  <PresentationFormat>Widescreen</PresentationFormat>
  <Paragraphs>42</Paragraphs>
  <Slides>11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Adobe Garamond Pro Bold</vt:lpstr>
      <vt:lpstr>Aharoni</vt:lpstr>
      <vt:lpstr>Arial</vt:lpstr>
      <vt:lpstr>Calibri</vt:lpstr>
      <vt:lpstr>Calibri Light</vt:lpstr>
      <vt:lpstr>Proxima Nova</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NIST</dc:creator>
  <cp:lastModifiedBy>NIST</cp:lastModifiedBy>
  <cp:revision>26</cp:revision>
  <dcterms:created xsi:type="dcterms:W3CDTF">2019-11-27T06:26:43Z</dcterms:created>
  <dcterms:modified xsi:type="dcterms:W3CDTF">2019-11-27T07:46:40Z</dcterms:modified>
</cp:coreProperties>
</file>